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7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9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50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6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20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86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99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19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85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0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50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35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76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85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91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98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5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49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jpg"/><Relationship Id="rId5" Type="http://schemas.openxmlformats.org/officeDocument/2006/relationships/image" Target="../media/image48.jp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6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" y="159488"/>
            <a:ext cx="12029440" cy="6549655"/>
          </a:xfrm>
          <a:prstGeom prst="rect">
            <a:avLst/>
          </a:prstGeom>
          <a:gradFill rotWithShape="1">
            <a:gsLst>
              <a:gs pos="0">
                <a:srgbClr val="293D58">
                  <a:alpha val="85000"/>
                </a:srgbClr>
              </a:gs>
              <a:gs pos="100000">
                <a:srgbClr val="293D58">
                  <a:alpha val="85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2478" y="1470686"/>
            <a:ext cx="10086737" cy="1478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560"/>
              </a:spcAft>
            </a:pPr>
            <a:r>
              <a:rPr sz="3588" b="1" dirty="0">
                <a:solidFill>
                  <a:srgbClr val="FFFFFF"/>
                </a:solidFill>
              </a:rPr>
              <a:t>Map Coloring Problem </a:t>
            </a:r>
            <a:endParaRPr lang="en-US" sz="3588" b="1" dirty="0" smtClean="0">
              <a:solidFill>
                <a:srgbClr val="FFFFFF"/>
              </a:solidFill>
            </a:endParaRPr>
          </a:p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560"/>
              </a:spcAft>
            </a:pPr>
            <a:r>
              <a:rPr sz="3588" b="1" dirty="0" smtClean="0">
                <a:solidFill>
                  <a:srgbClr val="FFFFFF"/>
                </a:solidFill>
              </a:rPr>
              <a:t>using </a:t>
            </a:r>
            <a:r>
              <a:rPr sz="3588" b="1" dirty="0">
                <a:solidFill>
                  <a:srgbClr val="FFFFFF"/>
                </a:solidFill>
              </a:rPr>
              <a:t>Forward Checking and </a:t>
            </a:r>
            <a:r>
              <a:rPr sz="3588" b="1" dirty="0" smtClean="0">
                <a:solidFill>
                  <a:srgbClr val="FFFFFF"/>
                </a:solidFill>
              </a:rPr>
              <a:t>MRV </a:t>
            </a:r>
            <a:r>
              <a:rPr sz="3588" b="1" dirty="0">
                <a:solidFill>
                  <a:srgbClr val="FFFFFF"/>
                </a:solidFill>
              </a:rPr>
              <a:t>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3933" y="3078891"/>
            <a:ext cx="6263189" cy="387798"/>
          </a:xfrm>
          <a:prstGeom prst="rect">
            <a:avLst/>
          </a:prstGeom>
          <a:solidFill>
            <a:srgbClr val="FFFF00"/>
          </a:solidFill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160"/>
              </a:spcAft>
            </a:pPr>
            <a:r>
              <a:rPr lang="en-US" b="1" dirty="0" smtClean="0">
                <a:solidFill>
                  <a:schemeClr val="bg1"/>
                </a:solidFill>
              </a:rPr>
              <a:t>    </a:t>
            </a:r>
            <a:r>
              <a:rPr b="1" dirty="0" smtClean="0">
                <a:solidFill>
                  <a:schemeClr val="bg1"/>
                </a:solidFill>
              </a:rPr>
              <a:t>A </a:t>
            </a:r>
            <a:r>
              <a:rPr b="1" dirty="0">
                <a:solidFill>
                  <a:schemeClr val="bg1"/>
                </a:solidFill>
              </a:rPr>
              <a:t>Constraint Satisfaction Problem (CSP) </a:t>
            </a:r>
            <a:r>
              <a:rPr b="1" dirty="0" smtClean="0">
                <a:solidFill>
                  <a:schemeClr val="bg1"/>
                </a:solidFill>
              </a:rPr>
              <a:t>Approach</a:t>
            </a:r>
            <a:r>
              <a:rPr lang="en-US" b="1" dirty="0" smtClean="0">
                <a:solidFill>
                  <a:schemeClr val="bg1"/>
                </a:solidFill>
              </a:rPr>
              <a:t>   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92691" y="4024404"/>
            <a:ext cx="2058512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lang="en-US" b="1" u="sng" dirty="0" smtClean="0">
                <a:solidFill>
                  <a:srgbClr val="D0D9E8"/>
                </a:solidFill>
              </a:rPr>
              <a:t>GROUP MEMBERS</a:t>
            </a:r>
            <a:endParaRPr b="1" u="sng" dirty="0">
              <a:solidFill>
                <a:srgbClr val="D0D9E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07406" y="4947684"/>
            <a:ext cx="2936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0D9E8"/>
                </a:solidFill>
                <a:latin typeface="Robo"/>
              </a:rPr>
              <a:t>GHULAM MUSTAFA</a:t>
            </a:r>
          </a:p>
          <a:p>
            <a:pPr algn="ctr"/>
            <a:r>
              <a:rPr lang="en-US" b="1" dirty="0">
                <a:solidFill>
                  <a:srgbClr val="D0D9E8"/>
                </a:solidFill>
                <a:latin typeface="Robo"/>
              </a:rPr>
              <a:t>DEEPAK</a:t>
            </a:r>
          </a:p>
          <a:p>
            <a:pPr algn="ctr"/>
            <a:r>
              <a:rPr lang="en-US" b="1" dirty="0">
                <a:solidFill>
                  <a:srgbClr val="D0D9E8"/>
                </a:solidFill>
                <a:latin typeface="Robo"/>
              </a:rPr>
              <a:t>SYED AHSAN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293D58"/>
                </a:solidFill>
              </a:rPr>
              <a:t>Introduction to CSP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38619" cy="1552574"/>
          </a:xfrm>
          <a:prstGeom prst="roundRect">
            <a:avLst>
              <a:gd name="adj" fmla="val 6134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7004" y="1836737"/>
            <a:ext cx="1552574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40722"/>
            <a:ext cx="4990952" cy="75713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C3E50"/>
                </a:solidFill>
              </a:rPr>
              <a:t> </a:t>
            </a:r>
            <a:r>
              <a:rPr sz="1400" b="1" dirty="0">
                <a:solidFill>
                  <a:srgbClr val="293D58"/>
                </a:solidFill>
              </a:rPr>
              <a:t>Definition</a:t>
            </a:r>
            <a:r>
              <a:rPr sz="1400" b="0" dirty="0">
                <a:solidFill>
                  <a:srgbClr val="2C3E50"/>
                </a:solidFill>
              </a:rPr>
              <a:t> A CSP is defined by:  </a:t>
            </a:r>
            <a:r>
              <a:rPr sz="1400" b="1" dirty="0">
                <a:solidFill>
                  <a:srgbClr val="4A6FA5"/>
                </a:solidFill>
              </a:rPr>
              <a:t>Variables</a:t>
            </a:r>
            <a:r>
              <a:rPr sz="1400" b="0" dirty="0">
                <a:solidFill>
                  <a:srgbClr val="2C3E50"/>
                </a:solidFill>
              </a:rPr>
              <a:t> with possible values (domains) </a:t>
            </a:r>
            <a:r>
              <a:rPr sz="1400" b="1" dirty="0">
                <a:solidFill>
                  <a:srgbClr val="4A6FA5"/>
                </a:solidFill>
              </a:rPr>
              <a:t>Constraints</a:t>
            </a:r>
            <a:r>
              <a:rPr sz="1400" b="0" dirty="0">
                <a:solidFill>
                  <a:srgbClr val="2C3E50"/>
                </a:solidFill>
              </a:rPr>
              <a:t> that restrict simultaneous values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028950"/>
            <a:ext cx="1647783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23941" y="3198429"/>
            <a:ext cx="342891" cy="289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5213" y="3571779"/>
            <a:ext cx="705578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200" b="1" dirty="0">
                <a:solidFill>
                  <a:srgbClr val="2C3E50"/>
                </a:solidFill>
              </a:rPr>
              <a:t>Sudoku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3827109"/>
            <a:ext cx="1362040" cy="48013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C3E50"/>
                </a:solidFill>
              </a:rPr>
              <a:t>Fill grid with numbers 1-9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7388" y="3028950"/>
            <a:ext cx="1647783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4597" y="3236857"/>
            <a:ext cx="342891" cy="2128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24101" y="3571779"/>
            <a:ext cx="901144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200" b="1" dirty="0">
                <a:solidFill>
                  <a:srgbClr val="2C3E50"/>
                </a:solidFill>
              </a:rPr>
              <a:t>N-Queens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0259" y="3827109"/>
            <a:ext cx="1362040" cy="48013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C3E50"/>
                </a:solidFill>
              </a:rPr>
              <a:t>Place N queens on N×N 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7568" y="3028950"/>
            <a:ext cx="1647783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5252" y="3198429"/>
            <a:ext cx="342891" cy="2896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0935" y="3571779"/>
            <a:ext cx="1200072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200" b="1" dirty="0">
                <a:solidFill>
                  <a:srgbClr val="2C3E50"/>
                </a:solidFill>
              </a:rPr>
              <a:t>Map Coloring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439" y="3827109"/>
            <a:ext cx="1362040" cy="48013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C3E50"/>
                </a:solidFill>
              </a:rPr>
              <a:t>Color regions with constraints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638674"/>
            <a:ext cx="5238619" cy="981074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7228" y="4799403"/>
            <a:ext cx="84023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 </a:t>
            </a:r>
            <a:r>
              <a:rPr sz="1400" b="1" dirty="0" smtClean="0">
                <a:solidFill>
                  <a:srgbClr val="293D58"/>
                </a:solidFill>
              </a:rPr>
              <a:t>Goal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228" y="4876800"/>
            <a:ext cx="228594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7228" y="5147066"/>
            <a:ext cx="4270656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C3E50"/>
                </a:solidFill>
              </a:rPr>
              <a:t> Find an assignment that </a:t>
            </a:r>
            <a:r>
              <a:rPr sz="1400" b="1" dirty="0">
                <a:solidFill>
                  <a:srgbClr val="4A6FA5"/>
                </a:solidFill>
              </a:rPr>
              <a:t>satisfies all constraints</a:t>
            </a:r>
            <a:r>
              <a:rPr sz="1400" b="0" dirty="0">
                <a:solidFill>
                  <a:srgbClr val="2C3E50"/>
                </a:solidFill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719647"/>
            <a:ext cx="5238619" cy="981074"/>
          </a:xfrm>
          <a:prstGeom prst="roundRect">
            <a:avLst>
              <a:gd name="adj" fmla="val 970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228" y="5763419"/>
            <a:ext cx="129279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</a:t>
            </a:r>
            <a:r>
              <a:rPr sz="1400" b="1" dirty="0" smtClean="0">
                <a:solidFill>
                  <a:srgbClr val="293D58"/>
                </a:solidFill>
              </a:rPr>
              <a:t>Relevance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228" y="5797487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7228" y="6111081"/>
            <a:ext cx="439876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C3E50"/>
                </a:solidFill>
              </a:rPr>
              <a:t> Foundation of many </a:t>
            </a:r>
            <a:r>
              <a:rPr sz="1400" b="1" dirty="0">
                <a:solidFill>
                  <a:srgbClr val="4A6FA5"/>
                </a:solidFill>
              </a:rPr>
              <a:t>AI problem-solving methods</a:t>
            </a:r>
            <a:r>
              <a:rPr sz="1400" b="0" dirty="0">
                <a:solidFill>
                  <a:srgbClr val="2C3E50"/>
                </a:solidFill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367" y="2846777"/>
            <a:ext cx="166257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CSP Components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6838" y="3286125"/>
            <a:ext cx="4857628" cy="180974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293D58"/>
                </a:solidFill>
              </a:rPr>
              <a:t>The Map Coloring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38619" cy="1219200"/>
          </a:xfrm>
          <a:prstGeom prst="roundRect">
            <a:avLst>
              <a:gd name="adj" fmla="val 7812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39683" y="1670050"/>
            <a:ext cx="12192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0099" y="1481756"/>
            <a:ext cx="4905253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smtClean="0">
                <a:solidFill>
                  <a:srgbClr val="293D58"/>
                </a:solidFill>
              </a:rPr>
              <a:t>Definition </a:t>
            </a:r>
            <a:r>
              <a:rPr sz="1400" b="0" dirty="0" smtClean="0">
                <a:solidFill>
                  <a:srgbClr val="2C3E50"/>
                </a:solidFill>
              </a:rPr>
              <a:t> </a:t>
            </a:r>
            <a:r>
              <a:rPr sz="1400" b="0" dirty="0">
                <a:solidFill>
                  <a:srgbClr val="2C3E50"/>
                </a:solidFill>
              </a:rPr>
              <a:t>Assign colors to regions on a map so that </a:t>
            </a:r>
            <a:r>
              <a:rPr sz="1400" b="1" dirty="0">
                <a:solidFill>
                  <a:srgbClr val="4A6FA5"/>
                </a:solidFill>
              </a:rPr>
              <a:t>no two adjacent regions share the same color</a:t>
            </a:r>
            <a:r>
              <a:rPr sz="1400" b="0" dirty="0">
                <a:solidFill>
                  <a:srgbClr val="2C3E50"/>
                </a:solidFill>
              </a:rPr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52700"/>
            <a:ext cx="2552636" cy="1095374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604" y="2651516"/>
            <a:ext cx="1202189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</a:t>
            </a:r>
            <a:r>
              <a:rPr sz="1400" b="1" dirty="0" smtClean="0">
                <a:solidFill>
                  <a:srgbClr val="293D58"/>
                </a:solidFill>
              </a:rPr>
              <a:t>Variables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604" y="2722245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04" y="3028950"/>
            <a:ext cx="226689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Regions or states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2716" y="2552700"/>
            <a:ext cx="2552636" cy="1095374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5112" y="2651516"/>
            <a:ext cx="1168846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</a:t>
            </a:r>
            <a:r>
              <a:rPr sz="1400" b="1" dirty="0" smtClean="0">
                <a:solidFill>
                  <a:srgbClr val="293D58"/>
                </a:solidFill>
              </a:rPr>
              <a:t>Domains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5745" y="272224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5112" y="3028950"/>
            <a:ext cx="2266893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 Set of available colors </a:t>
            </a:r>
            <a:r>
              <a:rPr sz="1104" dirty="0"/>
              <a:t>
</a:t>
            </a:r>
            <a:r>
              <a:rPr sz="1196" b="1" dirty="0">
                <a:solidFill>
                  <a:srgbClr val="4A6FA5"/>
                </a:solidFill>
              </a:rPr>
              <a:t>{Red, Green, Blue}</a:t>
            </a:r>
            <a:r>
              <a:rPr sz="1196" b="0" dirty="0">
                <a:solidFill>
                  <a:srgbClr val="2C3E50"/>
                </a:solidFill>
              </a:rPr>
              <a:t>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535761"/>
            <a:ext cx="2552636" cy="1095374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604" y="3740902"/>
            <a:ext cx="1394869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</a:t>
            </a:r>
            <a:r>
              <a:rPr sz="1400" b="1" dirty="0" smtClean="0">
                <a:solidFill>
                  <a:srgbClr val="293D58"/>
                </a:solidFill>
              </a:rPr>
              <a:t>Constraints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04" y="3804657"/>
            <a:ext cx="228594" cy="1657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604" y="4118336"/>
            <a:ext cx="2266893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 Adjacent regions </a:t>
            </a:r>
            <a:r>
              <a:rPr sz="1196" b="1" dirty="0">
                <a:solidFill>
                  <a:srgbClr val="4A6FA5"/>
                </a:solidFill>
              </a:rPr>
              <a:t>≠</a:t>
            </a:r>
            <a:r>
              <a:rPr sz="1196" b="0" dirty="0">
                <a:solidFill>
                  <a:srgbClr val="2C3E50"/>
                </a:solidFill>
              </a:rPr>
              <a:t> same color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2716" y="3610190"/>
            <a:ext cx="2552636" cy="1095374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05112" y="3709006"/>
            <a:ext cx="795346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</a:t>
            </a:r>
            <a:r>
              <a:rPr sz="1400" b="1" dirty="0" smtClean="0">
                <a:solidFill>
                  <a:srgbClr val="293D58"/>
                </a:solidFill>
              </a:rPr>
              <a:t>Goal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5112" y="3784022"/>
            <a:ext cx="228594" cy="1857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05112" y="4086440"/>
            <a:ext cx="226689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Minimize number of colors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28" y="4705907"/>
            <a:ext cx="1442959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sz="1400" b="1" dirty="0">
                <a:solidFill>
                  <a:srgbClr val="293D58"/>
                </a:solidFill>
              </a:rPr>
              <a:t>Applications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228" y="4786162"/>
            <a:ext cx="228594" cy="16573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57228" y="5145255"/>
            <a:ext cx="1523961" cy="1523999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9887" y="5212402"/>
            <a:ext cx="544980" cy="4192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4783" y="5692516"/>
            <a:ext cx="425053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200" b="1" dirty="0">
                <a:solidFill>
                  <a:srgbClr val="2C3E50"/>
                </a:solidFill>
              </a:rPr>
              <a:t>GIS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466" y="5918869"/>
            <a:ext cx="1238219" cy="66479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C3E50"/>
                </a:solidFill>
              </a:rPr>
              <a:t>Geographic Information Systems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24061" y="5145255"/>
            <a:ext cx="1523961" cy="1523999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28316" y="5201455"/>
            <a:ext cx="515450" cy="44111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712922" y="5733470"/>
            <a:ext cx="1159886" cy="29546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200" b="1" dirty="0">
                <a:solidFill>
                  <a:srgbClr val="2C3E50"/>
                </a:solidFill>
              </a:rPr>
              <a:t>Scheduling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66933" y="6032910"/>
            <a:ext cx="1238219" cy="48013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C3E50"/>
                </a:solidFill>
              </a:rPr>
              <a:t>Resource allocation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90895" y="5145255"/>
            <a:ext cx="1523961" cy="1523999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29034" y="5222600"/>
            <a:ext cx="545951" cy="4199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483021" y="5649984"/>
            <a:ext cx="949235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200" b="1" dirty="0">
                <a:solidFill>
                  <a:srgbClr val="2C3E50"/>
                </a:solidFill>
              </a:rPr>
              <a:t>Compilers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1126" y="6099564"/>
            <a:ext cx="1465252" cy="29546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C3E50"/>
                </a:solidFill>
              </a:rPr>
              <a:t>Register allocation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8214" y="2132402"/>
            <a:ext cx="3054875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Australia Map Coloring Example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76838" y="2571750"/>
            <a:ext cx="4857628" cy="3800475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293D58"/>
                </a:solidFill>
              </a:rPr>
              <a:t>CSP Formulation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2524061" cy="1266824"/>
          </a:xfrm>
          <a:prstGeom prst="roundRect">
            <a:avLst>
              <a:gd name="adj" fmla="val 751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2292" y="1303728"/>
            <a:ext cx="1157305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sz="1400" b="1" dirty="0">
                <a:solidFill>
                  <a:srgbClr val="293D58"/>
                </a:solidFill>
              </a:rPr>
              <a:t>Variables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353792"/>
            <a:ext cx="266693" cy="226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28" y="1833467"/>
            <a:ext cx="2011961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C3E50"/>
                </a:solidFill>
              </a:rPr>
              <a:t>Map regions (A, B, C, D, ...)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1290" y="1143000"/>
            <a:ext cx="2524061" cy="1266824"/>
          </a:xfrm>
          <a:prstGeom prst="roundRect">
            <a:avLst>
              <a:gd name="adj" fmla="val 751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78115" y="1303728"/>
            <a:ext cx="1123962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sz="1400" b="1" dirty="0">
                <a:solidFill>
                  <a:srgbClr val="293D58"/>
                </a:solidFill>
              </a:rPr>
              <a:t>Domains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785" y="1353792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71785" y="1741134"/>
            <a:ext cx="2143071" cy="48013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C3E50"/>
                </a:solidFill>
              </a:rPr>
              <a:t> Possible colors </a:t>
            </a:r>
            <a:r>
              <a:rPr sz="1200" dirty="0"/>
              <a:t>
</a:t>
            </a:r>
            <a:r>
              <a:rPr sz="1200" b="1" dirty="0">
                <a:solidFill>
                  <a:srgbClr val="4A6FA5"/>
                </a:solidFill>
              </a:rPr>
              <a:t>{Red, Green, Blue, Yellow}</a:t>
            </a:r>
            <a:r>
              <a:rPr sz="1200" b="0" dirty="0">
                <a:solidFill>
                  <a:srgbClr val="2C3E50"/>
                </a:solidFill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600325"/>
            <a:ext cx="2524061" cy="150495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7228" y="2761052"/>
            <a:ext cx="1529521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   </a:t>
            </a:r>
            <a:r>
              <a:rPr sz="1400" b="1" dirty="0" smtClean="0">
                <a:solidFill>
                  <a:srgbClr val="293D58"/>
                </a:solidFill>
              </a:rPr>
              <a:t>Constraints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228" y="2828510"/>
            <a:ext cx="266693" cy="19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228" y="3317522"/>
            <a:ext cx="2143071" cy="48013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C3E50"/>
                </a:solidFill>
              </a:rPr>
              <a:t>Adjacent regions must not share the same color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1290" y="2600325"/>
            <a:ext cx="2524061" cy="150495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71785" y="2761052"/>
            <a:ext cx="124418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  </a:t>
            </a:r>
            <a:r>
              <a:rPr sz="1400" b="1" dirty="0" smtClean="0">
                <a:solidFill>
                  <a:srgbClr val="293D58"/>
                </a:solidFill>
              </a:rPr>
              <a:t>Example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1785" y="2811117"/>
            <a:ext cx="266693" cy="2261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71785" y="3225189"/>
            <a:ext cx="2143071" cy="66479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C3E50"/>
                </a:solidFill>
              </a:rPr>
              <a:t> WA ≠ NT, SA </a:t>
            </a:r>
            <a:r>
              <a:rPr sz="1200" dirty="0"/>
              <a:t>
</a:t>
            </a:r>
            <a:r>
              <a:rPr sz="1200" b="0" dirty="0">
                <a:solidFill>
                  <a:srgbClr val="2C3E50"/>
                </a:solidFill>
              </a:rPr>
              <a:t>NT ≠ SA, Q </a:t>
            </a:r>
            <a:r>
              <a:rPr sz="1200" dirty="0"/>
              <a:t>
</a:t>
            </a:r>
            <a:r>
              <a:rPr sz="1200" b="0" dirty="0">
                <a:solidFill>
                  <a:srgbClr val="2C3E50"/>
                </a:solidFill>
              </a:rPr>
              <a:t>SA ≠ Q, NSW, V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4262990"/>
            <a:ext cx="5238619" cy="981074"/>
          </a:xfrm>
          <a:prstGeom prst="roundRect">
            <a:avLst>
              <a:gd name="adj" fmla="val 9708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258746" y="4639076"/>
            <a:ext cx="981074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2292" y="4472045"/>
            <a:ext cx="4963060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 dirty="0" smtClean="0">
                <a:solidFill>
                  <a:srgbClr val="293D58"/>
                </a:solidFill>
              </a:rPr>
              <a:t>Objective </a:t>
            </a:r>
            <a:r>
              <a:rPr sz="1400" b="0" dirty="0" smtClean="0">
                <a:solidFill>
                  <a:srgbClr val="2C3E50"/>
                </a:solidFill>
              </a:rPr>
              <a:t> </a:t>
            </a:r>
            <a:r>
              <a:rPr sz="1400" b="0" dirty="0">
                <a:solidFill>
                  <a:srgbClr val="2C3E50"/>
                </a:solidFill>
              </a:rPr>
              <a:t>Minimize conflicts and find a </a:t>
            </a:r>
            <a:r>
              <a:rPr sz="1400" b="1" dirty="0">
                <a:solidFill>
                  <a:srgbClr val="4A6FA5"/>
                </a:solidFill>
              </a:rPr>
              <a:t>valid </a:t>
            </a:r>
            <a:r>
              <a:rPr sz="1400" b="1" dirty="0" smtClean="0">
                <a:solidFill>
                  <a:srgbClr val="4A6FA5"/>
                </a:solidFill>
              </a:rPr>
              <a:t>coloring</a:t>
            </a:r>
            <a:r>
              <a:rPr lang="en-US" sz="1400" b="1" dirty="0" smtClean="0">
                <a:solidFill>
                  <a:srgbClr val="4A6FA5"/>
                </a:solidFill>
              </a:rPr>
              <a:t>     </a:t>
            </a:r>
            <a:r>
              <a:rPr sz="1400" b="1" dirty="0" smtClean="0">
                <a:solidFill>
                  <a:srgbClr val="4A6FA5"/>
                </a:solidFill>
              </a:rPr>
              <a:t> </a:t>
            </a:r>
            <a:r>
              <a:rPr sz="1400" b="1" dirty="0">
                <a:solidFill>
                  <a:srgbClr val="4A6FA5"/>
                </a:solidFill>
              </a:rPr>
              <a:t>assignment</a:t>
            </a:r>
            <a:r>
              <a:rPr sz="1400" b="0" dirty="0">
                <a:solidFill>
                  <a:srgbClr val="2C3E50"/>
                </a:solidFill>
              </a:rPr>
              <a:t>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401778"/>
            <a:ext cx="5238619" cy="1219200"/>
          </a:xfrm>
          <a:prstGeom prst="roundRect">
            <a:avLst>
              <a:gd name="adj" fmla="val 7812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139683" y="5928828"/>
            <a:ext cx="12192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2292" y="5740534"/>
            <a:ext cx="4963060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smtClean="0">
                <a:solidFill>
                  <a:srgbClr val="293D58"/>
                </a:solidFill>
              </a:rPr>
              <a:t>Challenge </a:t>
            </a:r>
            <a:r>
              <a:rPr sz="1400" b="0" dirty="0" smtClean="0">
                <a:solidFill>
                  <a:srgbClr val="2C3E50"/>
                </a:solidFill>
              </a:rPr>
              <a:t> </a:t>
            </a:r>
            <a:r>
              <a:rPr sz="1400" b="0" dirty="0">
                <a:solidFill>
                  <a:srgbClr val="2C3E50"/>
                </a:solidFill>
              </a:rPr>
              <a:t>Search space increases </a:t>
            </a:r>
            <a:r>
              <a:rPr sz="1400" b="1" dirty="0">
                <a:solidFill>
                  <a:srgbClr val="4A6FA5"/>
                </a:solidFill>
              </a:rPr>
              <a:t>rapidly</a:t>
            </a:r>
            <a:r>
              <a:rPr sz="1400" b="0" dirty="0">
                <a:solidFill>
                  <a:srgbClr val="2C3E50"/>
                </a:solidFill>
              </a:rPr>
              <a:t> as the number of regions and colors grows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6342" y="1217429"/>
            <a:ext cx="5238619" cy="52578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67670" y="2018103"/>
            <a:ext cx="2380715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Search Space Complexity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72105" y="3600450"/>
            <a:ext cx="571485" cy="761999"/>
          </a:xfrm>
          <a:prstGeom prst="roundRect">
            <a:avLst>
              <a:gd name="adj" fmla="val 16666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6858" y="4457700"/>
            <a:ext cx="771505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2C3E50"/>
                </a:solidFill>
              </a:rPr>
              <a:t>3 regions</a:t>
            </a:r>
            <a:r>
              <a:rPr sz="1104" dirty="0"/>
              <a:t>
</a:t>
            </a:r>
            <a:r>
              <a:rPr sz="956" b="0" dirty="0">
                <a:solidFill>
                  <a:srgbClr val="2C3E50"/>
                </a:solidFill>
              </a:rPr>
              <a:t>3 colors</a:t>
            </a:r>
            <a:r>
              <a:rPr sz="1104" dirty="0"/>
              <a:t>
</a:t>
            </a:r>
            <a:r>
              <a:rPr sz="956" b="0" dirty="0">
                <a:solidFill>
                  <a:srgbClr val="2C3E50"/>
                </a:solidFill>
              </a:rPr>
              <a:t>27 solutions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7453" y="3219449"/>
            <a:ext cx="571485" cy="1523999"/>
          </a:xfrm>
          <a:prstGeom prst="roundRect">
            <a:avLst>
              <a:gd name="adj" fmla="val 16666"/>
            </a:avLst>
          </a:prstGeom>
          <a:solidFill>
            <a:srgbClr val="5C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4581" y="4838699"/>
            <a:ext cx="847703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5 regions</a:t>
            </a:r>
            <a:r>
              <a:rPr sz="1104"/>
              <a:t>
</a:t>
            </a:r>
            <a:r>
              <a:rPr sz="956" b="0">
                <a:solidFill>
                  <a:srgbClr val="2C3E50"/>
                </a:solidFill>
              </a:rPr>
              <a:t>3 colors</a:t>
            </a:r>
            <a:r>
              <a:rPr sz="1104"/>
              <a:t>
</a:t>
            </a:r>
            <a:r>
              <a:rPr sz="956" b="0">
                <a:solidFill>
                  <a:srgbClr val="2C3E50"/>
                </a:solidFill>
              </a:rPr>
              <a:t>243 solutions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8523" y="2838450"/>
            <a:ext cx="571485" cy="2286000"/>
          </a:xfrm>
          <a:prstGeom prst="roundRect">
            <a:avLst>
              <a:gd name="adj" fmla="val 16666"/>
            </a:avLst>
          </a:prstGeom>
          <a:solidFill>
            <a:srgbClr val="6E9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58028" y="5219700"/>
            <a:ext cx="962000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7 regions</a:t>
            </a:r>
            <a:r>
              <a:rPr sz="1104"/>
              <a:t>
</a:t>
            </a:r>
            <a:r>
              <a:rPr sz="956" b="0">
                <a:solidFill>
                  <a:srgbClr val="2C3E50"/>
                </a:solidFill>
              </a:rPr>
              <a:t>3 colors</a:t>
            </a:r>
            <a:r>
              <a:rPr sz="1104"/>
              <a:t>
</a:t>
            </a:r>
            <a:r>
              <a:rPr sz="956" b="0">
                <a:solidFill>
                  <a:srgbClr val="2C3E50"/>
                </a:solidFill>
              </a:rPr>
              <a:t>2,187 solutions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4366" y="2457450"/>
            <a:ext cx="571485" cy="3047999"/>
          </a:xfrm>
          <a:prstGeom prst="roundRect">
            <a:avLst>
              <a:gd name="adj" fmla="val 16666"/>
            </a:avLst>
          </a:prstGeom>
          <a:solidFill>
            <a:srgbClr val="80A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05772" y="5600700"/>
            <a:ext cx="1038199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10 regions</a:t>
            </a:r>
            <a:r>
              <a:rPr sz="1104"/>
              <a:t>
</a:t>
            </a:r>
            <a:r>
              <a:rPr sz="956" b="0">
                <a:solidFill>
                  <a:srgbClr val="2C3E50"/>
                </a:solidFill>
              </a:rPr>
              <a:t>3 colors</a:t>
            </a:r>
            <a:r>
              <a:rPr sz="1104"/>
              <a:t>
</a:t>
            </a:r>
            <a:r>
              <a:rPr sz="956" b="0">
                <a:solidFill>
                  <a:srgbClr val="2C3E50"/>
                </a:solidFill>
              </a:rPr>
              <a:t>59,049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293D58"/>
                </a:solidFill>
              </a:rPr>
              <a:t>Forward Checking Algorithm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38619" cy="1219200"/>
          </a:xfrm>
          <a:prstGeom prst="roundRect">
            <a:avLst>
              <a:gd name="adj" fmla="val 7812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39683" y="1670050"/>
            <a:ext cx="12192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7228" y="1481756"/>
            <a:ext cx="5048124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smtClean="0">
                <a:solidFill>
                  <a:srgbClr val="293D58"/>
                </a:solidFill>
              </a:rPr>
              <a:t>Concept </a:t>
            </a:r>
            <a:r>
              <a:rPr sz="1400" b="0" dirty="0" smtClean="0">
                <a:solidFill>
                  <a:srgbClr val="2C3E50"/>
                </a:solidFill>
              </a:rPr>
              <a:t> </a:t>
            </a:r>
            <a:r>
              <a:rPr sz="1400" b="0" dirty="0">
                <a:solidFill>
                  <a:srgbClr val="2C3E50"/>
                </a:solidFill>
              </a:rPr>
              <a:t>Optimization for backtracking that </a:t>
            </a:r>
            <a:r>
              <a:rPr sz="1400" b="1" dirty="0">
                <a:solidFill>
                  <a:srgbClr val="4A6FA5"/>
                </a:solidFill>
              </a:rPr>
              <a:t>checks ahead</a:t>
            </a:r>
            <a:r>
              <a:rPr sz="1400" b="0" dirty="0">
                <a:solidFill>
                  <a:srgbClr val="2C3E50"/>
                </a:solidFill>
              </a:rPr>
              <a:t> to eliminate invalid choices before they cause conflicts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52700"/>
            <a:ext cx="5238619" cy="215225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28" y="2713428"/>
            <a:ext cx="116371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 </a:t>
            </a:r>
            <a:r>
              <a:rPr sz="1400" b="1" dirty="0" smtClean="0">
                <a:solidFill>
                  <a:srgbClr val="293D58"/>
                </a:solidFill>
              </a:rPr>
              <a:t>Working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2779395"/>
            <a:ext cx="228594" cy="19430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7228" y="315277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7228" y="3152775"/>
            <a:ext cx="2857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5842" y="3152775"/>
            <a:ext cx="197162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Assign a color to a region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358140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228" y="3581400"/>
            <a:ext cx="2857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5842" y="3581400"/>
            <a:ext cx="440996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Remove that color from the domain of </a:t>
            </a:r>
            <a:r>
              <a:rPr sz="1196" b="1">
                <a:solidFill>
                  <a:srgbClr val="4A6FA5"/>
                </a:solidFill>
              </a:rPr>
              <a:t>adjacent regions</a:t>
            </a:r>
            <a:r>
              <a:rPr sz="1196" b="0">
                <a:solidFill>
                  <a:srgbClr val="2C3E50"/>
                </a:solidFill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401002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7228" y="4010024"/>
            <a:ext cx="2857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5842" y="4010024"/>
            <a:ext cx="395277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If a neighbor's domain becomes </a:t>
            </a:r>
            <a:r>
              <a:rPr sz="1196" b="1">
                <a:solidFill>
                  <a:srgbClr val="4A6FA5"/>
                </a:solidFill>
              </a:rPr>
              <a:t>empty</a:t>
            </a:r>
            <a:r>
              <a:rPr sz="1196" b="0">
                <a:solidFill>
                  <a:srgbClr val="2C3E50"/>
                </a:solidFill>
              </a:rPr>
              <a:t>, backtrack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78" y="5008842"/>
            <a:ext cx="143718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 </a:t>
            </a:r>
            <a:r>
              <a:rPr sz="1400" b="1" dirty="0" smtClean="0">
                <a:solidFill>
                  <a:srgbClr val="293D58"/>
                </a:solidFill>
              </a:rPr>
              <a:t>Advantages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143" y="5043708"/>
            <a:ext cx="228594" cy="197167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6813" y="5573025"/>
            <a:ext cx="304792" cy="21394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0099" y="5959552"/>
            <a:ext cx="1238219" cy="714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Reduces unnecessary search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3646" y="5551045"/>
            <a:ext cx="304792" cy="2579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666933" y="5651204"/>
            <a:ext cx="1238219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Detects dead ends early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0479" y="5597937"/>
            <a:ext cx="304792" cy="1641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33766" y="5938287"/>
            <a:ext cx="1238219" cy="714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Improves efficiency in CSPs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6342" y="1121734"/>
            <a:ext cx="5238619" cy="5367703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85776" y="786299"/>
            <a:ext cx="2839752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00" b="1" dirty="0">
                <a:solidFill>
                  <a:srgbClr val="293D58"/>
                </a:solidFill>
              </a:rPr>
              <a:t>Forward Checking Process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6837" y="1202142"/>
            <a:ext cx="4857628" cy="106679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962600" y="2416471"/>
            <a:ext cx="3886102" cy="561974"/>
          </a:xfrm>
          <a:prstGeom prst="roundRect">
            <a:avLst>
              <a:gd name="adj" fmla="val 27118"/>
            </a:avLst>
          </a:prstGeom>
          <a:solidFill>
            <a:srgbClr val="E0E7FF"/>
          </a:solidFill>
          <a:ln w="1651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62600" y="2437728"/>
            <a:ext cx="3886102" cy="5619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293D58"/>
                </a:solidFill>
              </a:rPr>
              <a:t>Assign WA = 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8175" y="3036670"/>
            <a:ext cx="209544" cy="4419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0" dirty="0">
                <a:solidFill>
                  <a:srgbClr val="4A6FA5"/>
                </a:solidFill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62600" y="3469096"/>
            <a:ext cx="3886102" cy="561974"/>
          </a:xfrm>
          <a:prstGeom prst="roundRect">
            <a:avLst>
              <a:gd name="adj" fmla="val 27118"/>
            </a:avLst>
          </a:prstGeom>
          <a:solidFill>
            <a:srgbClr val="E0E7FF"/>
          </a:solidFill>
          <a:ln w="1651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62600" y="3458464"/>
            <a:ext cx="3886102" cy="5619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293D58"/>
                </a:solidFill>
              </a:rPr>
              <a:t>Remove Red from NT, SA domains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4375" y="4034723"/>
            <a:ext cx="209544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0" dirty="0">
                <a:solidFill>
                  <a:srgbClr val="4A6FA5"/>
                </a:solidFill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90868" y="4454700"/>
            <a:ext cx="3886102" cy="561974"/>
          </a:xfrm>
          <a:prstGeom prst="roundRect">
            <a:avLst>
              <a:gd name="adj" fmla="val 27118"/>
            </a:avLst>
          </a:prstGeom>
          <a:solidFill>
            <a:srgbClr val="E0E7FF"/>
          </a:solidFill>
          <a:ln w="1651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67372" y="4443413"/>
            <a:ext cx="3886102" cy="5619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293D58"/>
                </a:solidFill>
              </a:rPr>
              <a:t>Check if any domain is empty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0575" y="5038614"/>
            <a:ext cx="209544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0" dirty="0">
                <a:solidFill>
                  <a:srgbClr val="4A6FA5"/>
                </a:solidFill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84668" y="5489179"/>
            <a:ext cx="3886102" cy="561974"/>
          </a:xfrm>
          <a:prstGeom prst="roundRect">
            <a:avLst>
              <a:gd name="adj" fmla="val 27118"/>
            </a:avLst>
          </a:prstGeom>
          <a:solidFill>
            <a:srgbClr val="E0E7FF"/>
          </a:solidFill>
          <a:ln w="1651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97068" y="5468125"/>
            <a:ext cx="3886102" cy="5619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293D58"/>
                </a:solidFill>
              </a:rPr>
              <a:t>Continue or Backtrack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293D58"/>
                </a:solidFill>
              </a:rPr>
              <a:t>MRV (Minimum Remaining Values) Heuristic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15408"/>
            <a:ext cx="5238619" cy="1219200"/>
          </a:xfrm>
          <a:prstGeom prst="roundRect">
            <a:avLst>
              <a:gd name="adj" fmla="val 7812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39683" y="1542458"/>
            <a:ext cx="12192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7228" y="1354164"/>
            <a:ext cx="5048124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 smtClean="0"/>
              <a:t> </a:t>
            </a:r>
            <a:r>
              <a:rPr sz="1400" b="1" dirty="0">
                <a:solidFill>
                  <a:srgbClr val="293D58"/>
                </a:solidFill>
              </a:rPr>
              <a:t>Definition </a:t>
            </a:r>
            <a:r>
              <a:rPr sz="1400" b="0" dirty="0">
                <a:solidFill>
                  <a:srgbClr val="2C3E50"/>
                </a:solidFill>
              </a:rPr>
              <a:t> Chooses the variable with the </a:t>
            </a:r>
            <a:r>
              <a:rPr sz="1400" b="1" dirty="0">
                <a:solidFill>
                  <a:srgbClr val="4A6FA5"/>
                </a:solidFill>
              </a:rPr>
              <a:t>fewest legal remaining values</a:t>
            </a:r>
            <a:r>
              <a:rPr sz="1400" b="0" dirty="0">
                <a:solidFill>
                  <a:srgbClr val="2C3E50"/>
                </a:solidFill>
              </a:rPr>
              <a:t> to assign next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265621"/>
            <a:ext cx="5238619" cy="1933574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28" y="2436976"/>
            <a:ext cx="135691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</a:t>
            </a:r>
            <a:r>
              <a:rPr lang="en-US" sz="1400" dirty="0" smtClean="0"/>
              <a:t>  </a:t>
            </a:r>
            <a:r>
              <a:rPr sz="1400" dirty="0" smtClean="0"/>
              <a:t> </a:t>
            </a:r>
            <a:r>
              <a:rPr sz="1400" b="1" dirty="0">
                <a:solidFill>
                  <a:srgbClr val="293D58"/>
                </a:solidFill>
              </a:rPr>
              <a:t>Why Use It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2502943"/>
            <a:ext cx="228594" cy="19430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2965844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1070" y="2896068"/>
            <a:ext cx="403488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C3E50"/>
                </a:solidFill>
              </a:rPr>
              <a:t>Identifies the </a:t>
            </a:r>
            <a:r>
              <a:rPr sz="1400" b="1" dirty="0">
                <a:solidFill>
                  <a:srgbClr val="4A6FA5"/>
                </a:solidFill>
              </a:rPr>
              <a:t>most constrained variable</a:t>
            </a:r>
            <a:r>
              <a:rPr sz="1400" b="0" dirty="0">
                <a:solidFill>
                  <a:srgbClr val="2C3E50"/>
                </a:solidFill>
              </a:rPr>
              <a:t> early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228" y="3336367"/>
            <a:ext cx="228594" cy="1028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070" y="3240783"/>
            <a:ext cx="4533786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C3E50"/>
                </a:solidFill>
              </a:rPr>
              <a:t>Minimizes backtracking by tackling difficult decisions first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228" y="3877863"/>
            <a:ext cx="228594" cy="1628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1070" y="3800943"/>
            <a:ext cx="3016082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C3E50"/>
                </a:solidFill>
              </a:rPr>
              <a:t>Reduces search space significantly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" y="4624843"/>
            <a:ext cx="1199303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 </a:t>
            </a:r>
            <a:r>
              <a:rPr sz="1400" b="1" dirty="0" smtClean="0">
                <a:solidFill>
                  <a:srgbClr val="293D58"/>
                </a:solidFill>
              </a:rPr>
              <a:t>Example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228" y="4679381"/>
            <a:ext cx="228594" cy="2171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0099" y="5058214"/>
            <a:ext cx="182875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1" dirty="0">
                <a:solidFill>
                  <a:srgbClr val="293D58"/>
                </a:solidFill>
              </a:rPr>
              <a:t>Region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099" y="5391588"/>
            <a:ext cx="182875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Domain: {Red, Blue, Green}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47743" y="5656075"/>
            <a:ext cx="380990" cy="380999"/>
          </a:xfrm>
          <a:prstGeom prst="roundRect">
            <a:avLst>
              <a:gd name="adj" fmla="val 2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47743" y="5677338"/>
            <a:ext cx="38099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23981" y="5656075"/>
            <a:ext cx="380990" cy="380999"/>
          </a:xfrm>
          <a:prstGeom prst="roundRect">
            <a:avLst>
              <a:gd name="adj" fmla="val 25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23981" y="5677338"/>
            <a:ext cx="38099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00219" y="5656075"/>
            <a:ext cx="380990" cy="380999"/>
          </a:xfrm>
          <a:prstGeom prst="roundRect">
            <a:avLst>
              <a:gd name="adj" fmla="val 2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00219" y="5677338"/>
            <a:ext cx="38099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2220" y="4915339"/>
            <a:ext cx="247643" cy="12858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A6FA5"/>
                </a:solidFill>
              </a:rPr>
              <a:t>VS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3231" y="5058214"/>
            <a:ext cx="182875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293D58"/>
                </a:solidFill>
              </a:rPr>
              <a:t>Region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3231" y="5391588"/>
            <a:ext cx="182875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Domain: {Red}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7113" y="5656075"/>
            <a:ext cx="380990" cy="380999"/>
          </a:xfrm>
          <a:prstGeom prst="roundRect">
            <a:avLst>
              <a:gd name="adj" fmla="val 2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67113" y="5677338"/>
            <a:ext cx="380990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28" y="6344089"/>
            <a:ext cx="48576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975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Choose </a:t>
            </a:r>
            <a:r>
              <a:rPr sz="1196" b="1">
                <a:solidFill>
                  <a:srgbClr val="4A6FA5"/>
                </a:solidFill>
              </a:rPr>
              <a:t>Region B</a:t>
            </a:r>
            <a:r>
              <a:rPr sz="1196" b="0">
                <a:solidFill>
                  <a:srgbClr val="2C3E50"/>
                </a:solidFill>
              </a:rPr>
              <a:t> first (MRV heuristic)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1709" y="1012112"/>
            <a:ext cx="2576410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00" b="1" dirty="0">
                <a:solidFill>
                  <a:srgbClr val="293D58"/>
                </a:solidFill>
              </a:rPr>
              <a:t>MRV Heuristic in 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57942" y="1376364"/>
            <a:ext cx="4857628" cy="3043235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00699" y="4756327"/>
            <a:ext cx="3499612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 dirty="0" smtClean="0">
                <a:solidFill>
                  <a:srgbClr val="2C3E50"/>
                </a:solidFill>
              </a:rPr>
              <a:t>1. </a:t>
            </a:r>
            <a:r>
              <a:rPr sz="1400" b="0" dirty="0" smtClean="0">
                <a:solidFill>
                  <a:srgbClr val="2C3E50"/>
                </a:solidFill>
              </a:rPr>
              <a:t>Select </a:t>
            </a:r>
            <a:r>
              <a:rPr sz="1400" b="0" dirty="0">
                <a:solidFill>
                  <a:srgbClr val="2C3E50"/>
                </a:solidFill>
              </a:rPr>
              <a:t>variable with smallest domain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00699" y="5217325"/>
            <a:ext cx="4333766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 dirty="0" smtClean="0">
                <a:solidFill>
                  <a:srgbClr val="2C3E50"/>
                </a:solidFill>
              </a:rPr>
              <a:t>2. </a:t>
            </a:r>
            <a:r>
              <a:rPr sz="1400" b="0" dirty="0" smtClean="0">
                <a:solidFill>
                  <a:srgbClr val="2C3E50"/>
                </a:solidFill>
              </a:rPr>
              <a:t>Apply </a:t>
            </a:r>
            <a:r>
              <a:rPr sz="1400" b="0" dirty="0">
                <a:solidFill>
                  <a:srgbClr val="2C3E50"/>
                </a:solidFill>
              </a:rPr>
              <a:t>Forward Checking to prune neighbor domains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00699" y="5945827"/>
            <a:ext cx="3627853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 dirty="0" smtClean="0">
                <a:solidFill>
                  <a:srgbClr val="2C3E50"/>
                </a:solidFill>
              </a:rPr>
              <a:t>3. </a:t>
            </a:r>
            <a:r>
              <a:rPr sz="1400" b="0" dirty="0" smtClean="0">
                <a:solidFill>
                  <a:srgbClr val="2C3E50"/>
                </a:solidFill>
              </a:rPr>
              <a:t>Repeat </a:t>
            </a:r>
            <a:r>
              <a:rPr sz="1400" b="0" dirty="0">
                <a:solidFill>
                  <a:srgbClr val="2C3E50"/>
                </a:solidFill>
              </a:rPr>
              <a:t>until all variables are assigned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9119" y="2275763"/>
            <a:ext cx="5238619" cy="981074"/>
          </a:xfrm>
          <a:prstGeom prst="roundRect">
            <a:avLst>
              <a:gd name="adj" fmla="val 9708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 Same Side Corner Rectangle 2"/>
          <p:cNvSpPr/>
          <p:nvPr/>
        </p:nvSpPr>
        <p:spPr>
          <a:xfrm rot="16200000">
            <a:off x="258746" y="2703489"/>
            <a:ext cx="981074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1833" y="2515195"/>
            <a:ext cx="5073519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 smtClean="0">
                <a:solidFill>
                  <a:srgbClr val="293D58"/>
                </a:solidFill>
              </a:rPr>
              <a:t>Combined </a:t>
            </a:r>
            <a:r>
              <a:rPr sz="1400" b="1" dirty="0">
                <a:solidFill>
                  <a:srgbClr val="293D58"/>
                </a:solidFill>
              </a:rPr>
              <a:t>Benefit </a:t>
            </a:r>
            <a:r>
              <a:rPr sz="1400" b="0" dirty="0">
                <a:solidFill>
                  <a:srgbClr val="2C3E50"/>
                </a:solidFill>
              </a:rPr>
              <a:t> </a:t>
            </a:r>
            <a:r>
              <a:rPr sz="1400" b="1" dirty="0">
                <a:solidFill>
                  <a:srgbClr val="4A6FA5"/>
                </a:solidFill>
              </a:rPr>
              <a:t>MRV + Forward Checking</a:t>
            </a:r>
            <a:r>
              <a:rPr sz="1400" b="0" dirty="0">
                <a:solidFill>
                  <a:srgbClr val="2C3E50"/>
                </a:solidFill>
              </a:rPr>
              <a:t> = Faster </a:t>
            </a:r>
            <a:r>
              <a:rPr sz="1400" b="0" dirty="0" smtClean="0">
                <a:solidFill>
                  <a:srgbClr val="2C3E50"/>
                </a:solidFill>
              </a:rPr>
              <a:t>and</a:t>
            </a:r>
            <a:r>
              <a:rPr lang="en-US" sz="1400" dirty="0">
                <a:solidFill>
                  <a:srgbClr val="2C3E50"/>
                </a:solidFill>
              </a:rPr>
              <a:t> </a:t>
            </a:r>
            <a:r>
              <a:rPr lang="en-US" sz="1400" b="0" dirty="0" smtClean="0">
                <a:solidFill>
                  <a:srgbClr val="2C3E50"/>
                </a:solidFill>
              </a:rPr>
              <a:t> </a:t>
            </a:r>
            <a:r>
              <a:rPr sz="1400" b="0" dirty="0" smtClean="0">
                <a:solidFill>
                  <a:srgbClr val="2C3E50"/>
                </a:solidFill>
              </a:rPr>
              <a:t>Smarter </a:t>
            </a:r>
            <a:r>
              <a:rPr sz="1400" b="0" dirty="0">
                <a:solidFill>
                  <a:srgbClr val="2C3E50"/>
                </a:solidFill>
              </a:rPr>
              <a:t>Search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30814" y="2333841"/>
            <a:ext cx="133979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400" b="1" dirty="0"/>
              <a:t>Backtracking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19709" y="2711276"/>
            <a:ext cx="962000" cy="285750"/>
          </a:xfrm>
          <a:prstGeom prst="roundRect">
            <a:avLst>
              <a:gd name="adj" fmla="val 33333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6619709" y="2711276"/>
            <a:ext cx="962000" cy="285750"/>
          </a:xfrm>
          <a:prstGeom prst="roundRect">
            <a:avLst>
              <a:gd name="adj" fmla="val 33333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6794407" y="3038692"/>
            <a:ext cx="612604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/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6661" y="2333841"/>
            <a:ext cx="69596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400" b="1" dirty="0"/>
              <a:t>+ MRV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7453" y="2711276"/>
            <a:ext cx="914377" cy="285750"/>
          </a:xfrm>
          <a:prstGeom prst="roundRect">
            <a:avLst>
              <a:gd name="adj" fmla="val 33333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7867453" y="2711276"/>
            <a:ext cx="371465" cy="285750"/>
          </a:xfrm>
          <a:prstGeom prst="roundRect">
            <a:avLst>
              <a:gd name="adj" fmla="val 33333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8068033" y="3038692"/>
            <a:ext cx="51321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/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7573" y="2335656"/>
            <a:ext cx="1067893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400" b="1" dirty="0"/>
              <a:t>+ Forward Checking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7573" y="2920826"/>
            <a:ext cx="914377" cy="285750"/>
          </a:xfrm>
          <a:prstGeom prst="roundRect">
            <a:avLst>
              <a:gd name="adj" fmla="val 33333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Rounded Rectangle 14"/>
          <p:cNvSpPr/>
          <p:nvPr/>
        </p:nvSpPr>
        <p:spPr>
          <a:xfrm>
            <a:off x="9067573" y="2920826"/>
            <a:ext cx="228594" cy="285750"/>
          </a:xfrm>
          <a:prstGeom prst="roundRect">
            <a:avLst>
              <a:gd name="adj" fmla="val 41666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9268153" y="3248241"/>
            <a:ext cx="51321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/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91235" y="2333841"/>
            <a:ext cx="686342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400" b="1" dirty="0"/>
              <a:t>+ Both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77218" y="2711276"/>
            <a:ext cx="914377" cy="285750"/>
          </a:xfrm>
          <a:prstGeom prst="roundRect">
            <a:avLst>
              <a:gd name="adj" fmla="val 33333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10277218" y="2711276"/>
            <a:ext cx="95247" cy="285750"/>
          </a:xfrm>
          <a:prstGeom prst="roundRect">
            <a:avLst>
              <a:gd name="adj" fmla="val 10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10477798" y="3038692"/>
            <a:ext cx="51321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50"/>
                </a:solidFill>
              </a:rPr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4111848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293D58"/>
                </a:solidFill>
              </a:rPr>
              <a:t>Dataset and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813387"/>
            <a:ext cx="5238619" cy="1219200"/>
          </a:xfrm>
          <a:prstGeom prst="roundRect">
            <a:avLst>
              <a:gd name="adj" fmla="val 7812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39683" y="1340437"/>
            <a:ext cx="12192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7228" y="1152143"/>
            <a:ext cx="5048124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smtClean="0">
                <a:solidFill>
                  <a:srgbClr val="293D58"/>
                </a:solidFill>
              </a:rPr>
              <a:t>Dataset </a:t>
            </a:r>
            <a:r>
              <a:rPr sz="1400" b="1" dirty="0">
                <a:solidFill>
                  <a:srgbClr val="293D58"/>
                </a:solidFill>
              </a:rPr>
              <a:t>Source </a:t>
            </a:r>
            <a:r>
              <a:rPr sz="1400" b="0" dirty="0">
                <a:solidFill>
                  <a:srgbClr val="2C3E50"/>
                </a:solidFill>
              </a:rPr>
              <a:t> </a:t>
            </a:r>
            <a:r>
              <a:rPr sz="1400" b="1" dirty="0">
                <a:solidFill>
                  <a:srgbClr val="4A6FA5"/>
                </a:solidFill>
              </a:rPr>
              <a:t>Synthetic or real map dataset</a:t>
            </a:r>
            <a:r>
              <a:rPr sz="1400" b="0" dirty="0">
                <a:solidFill>
                  <a:srgbClr val="2C3E50"/>
                </a:solidFill>
              </a:rPr>
              <a:t> (e.g., regions of Pakistan or Australian map)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28" y="2213688"/>
            <a:ext cx="131318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</a:t>
            </a:r>
            <a:r>
              <a:rPr sz="1400" b="1" dirty="0" smtClean="0">
                <a:solidFill>
                  <a:srgbClr val="293D58"/>
                </a:solidFill>
              </a:rPr>
              <a:t>Tools </a:t>
            </a:r>
            <a:r>
              <a:rPr sz="1400" b="1" dirty="0">
                <a:solidFill>
                  <a:srgbClr val="293D58"/>
                </a:solidFill>
              </a:rPr>
              <a:t>Used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2266796"/>
            <a:ext cx="228594" cy="2200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7228" y="2653035"/>
            <a:ext cx="2362140" cy="1009649"/>
          </a:xfrm>
          <a:prstGeom prst="roundRect">
            <a:avLst>
              <a:gd name="adj" fmla="val 9433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0099" y="2738976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872" y="2904629"/>
            <a:ext cx="266693" cy="1449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19209" y="2615152"/>
            <a:ext cx="145728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293D58"/>
                </a:solidFill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9209" y="2900902"/>
            <a:ext cx="1457288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Core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2716" y="2653035"/>
            <a:ext cx="2362140" cy="1009649"/>
          </a:xfrm>
          <a:prstGeom prst="roundRect">
            <a:avLst>
              <a:gd name="adj" fmla="val 9433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05112" y="2738976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359" y="2864044"/>
            <a:ext cx="266693" cy="2261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697" y="2615152"/>
            <a:ext cx="145728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293D58"/>
                </a:solidFill>
              </a:rPr>
              <a:t>NetworkX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697" y="2900902"/>
            <a:ext cx="1457288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Graph representation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3805560"/>
            <a:ext cx="2362140" cy="790574"/>
          </a:xfrm>
          <a:prstGeom prst="roundRect">
            <a:avLst>
              <a:gd name="adj" fmla="val 12048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0099" y="3777202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4872" y="3940783"/>
            <a:ext cx="266693" cy="1681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19209" y="3767677"/>
            <a:ext cx="145728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293D58"/>
                </a:solidFill>
              </a:rPr>
              <a:t>Matplotlib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9209" y="4053427"/>
            <a:ext cx="145728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Visualization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2716" y="3805560"/>
            <a:ext cx="2362140" cy="790574"/>
          </a:xfrm>
          <a:prstGeom prst="roundRect">
            <a:avLst>
              <a:gd name="adj" fmla="val 12048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505112" y="3777202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0359" y="3929187"/>
            <a:ext cx="266693" cy="1913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14697" y="3767677"/>
            <a:ext cx="145728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293D58"/>
                </a:solidFill>
              </a:rPr>
              <a:t>CSV/JSON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697" y="4053427"/>
            <a:ext cx="145728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Data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28" y="4921126"/>
            <a:ext cx="2189767" cy="3131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 dirty="0">
                <a:solidFill>
                  <a:srgbClr val="293D58"/>
                </a:solidFill>
              </a:rPr>
              <a:t> </a:t>
            </a:r>
            <a:r>
              <a:rPr sz="1104" dirty="0"/>
              <a:t>  </a:t>
            </a:r>
            <a:r>
              <a:rPr lang="en-US" sz="1104" dirty="0" smtClean="0"/>
              <a:t>  </a:t>
            </a:r>
            <a:r>
              <a:rPr sz="1315" b="1" dirty="0" smtClean="0">
                <a:solidFill>
                  <a:srgbClr val="293D58"/>
                </a:solidFill>
              </a:rPr>
              <a:t>Implementation </a:t>
            </a:r>
            <a:r>
              <a:rPr sz="1315" b="1" dirty="0">
                <a:solidFill>
                  <a:srgbClr val="293D58"/>
                </a:solidFill>
              </a:rPr>
              <a:t>Steps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3423" y="4957164"/>
            <a:ext cx="242399" cy="18786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39972" y="5221441"/>
            <a:ext cx="302998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5842" y="5194441"/>
            <a:ext cx="4429014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 Represent map as </a:t>
            </a:r>
            <a:r>
              <a:rPr sz="1196" b="1" dirty="0">
                <a:solidFill>
                  <a:srgbClr val="4A6FA5"/>
                </a:solidFill>
              </a:rPr>
              <a:t>graph</a:t>
            </a:r>
            <a:r>
              <a:rPr sz="1196" b="0" dirty="0">
                <a:solidFill>
                  <a:srgbClr val="2C3E50"/>
                </a:solidFill>
              </a:rPr>
              <a:t> (nodes = regions, edges = borders)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5842" y="5784990"/>
            <a:ext cx="398135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Apply </a:t>
            </a:r>
            <a:r>
              <a:rPr sz="1196" b="1">
                <a:solidFill>
                  <a:srgbClr val="4A6FA5"/>
                </a:solidFill>
              </a:rPr>
              <a:t>MRV</a:t>
            </a:r>
            <a:r>
              <a:rPr sz="1196" b="0">
                <a:solidFill>
                  <a:srgbClr val="2C3E50"/>
                </a:solidFill>
              </a:rPr>
              <a:t> to select variable with smallest domain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5842" y="6185040"/>
            <a:ext cx="393372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Use </a:t>
            </a:r>
            <a:r>
              <a:rPr sz="1196" b="1">
                <a:solidFill>
                  <a:srgbClr val="4A6FA5"/>
                </a:solidFill>
              </a:rPr>
              <a:t>Forward Checking</a:t>
            </a:r>
            <a:r>
              <a:rPr sz="1196" b="0">
                <a:solidFill>
                  <a:srgbClr val="2C3E50"/>
                </a:solidFill>
              </a:rPr>
              <a:t> for constraint propagation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228" y="6563827"/>
            <a:ext cx="2857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5842" y="6585090"/>
            <a:ext cx="297172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Visualize colored map with Matplotlib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3753" y="934133"/>
            <a:ext cx="146379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Sample Output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76838" y="1211446"/>
            <a:ext cx="4857628" cy="35114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76839" y="5232766"/>
            <a:ext cx="4857628" cy="542925"/>
          </a:xfrm>
          <a:prstGeom prst="roundRect">
            <a:avLst>
              <a:gd name="adj" fmla="val 17543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6287927" y="5421678"/>
            <a:ext cx="5429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76838" y="5264655"/>
            <a:ext cx="4857628" cy="5429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</a:t>
            </a:r>
            <a:r>
              <a:rPr sz="1104"/>
              <a:t>  </a:t>
            </a:r>
            <a:r>
              <a:rPr sz="1196" b="0">
                <a:solidFill>
                  <a:srgbClr val="2C3E50"/>
                </a:solidFill>
              </a:rPr>
              <a:t> No two adjacent regions share the same color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72125" y="5453250"/>
            <a:ext cx="228594" cy="19430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57228" y="5569196"/>
            <a:ext cx="237925" cy="2478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293D58"/>
                </a:solidFill>
              </a:rPr>
              <a:t>Results and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38619" cy="4514850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7228" y="1288339"/>
            <a:ext cx="2713115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1" dirty="0">
                <a:solidFill>
                  <a:srgbClr val="293D58"/>
                </a:solidFill>
              </a:rPr>
              <a:t> </a:t>
            </a:r>
            <a:r>
              <a:rPr sz="1600" dirty="0"/>
              <a:t>  </a:t>
            </a:r>
            <a:r>
              <a:rPr lang="en-US" sz="1600" dirty="0" smtClean="0"/>
              <a:t>  </a:t>
            </a:r>
            <a:r>
              <a:rPr sz="1600" b="1" dirty="0" smtClean="0">
                <a:solidFill>
                  <a:srgbClr val="293D58"/>
                </a:solidFill>
              </a:rPr>
              <a:t>Performance </a:t>
            </a:r>
            <a:r>
              <a:rPr sz="1600" b="1" dirty="0">
                <a:solidFill>
                  <a:srgbClr val="293D58"/>
                </a:solidFill>
              </a:rPr>
              <a:t>Metrics </a:t>
            </a:r>
            <a:r>
              <a:rPr lang="en-US" sz="1600" b="1" dirty="0" smtClean="0">
                <a:solidFill>
                  <a:srgbClr val="293D58"/>
                </a:solidFill>
              </a:rPr>
              <a:t>  </a:t>
            </a:r>
            <a:endParaRPr sz="1600" b="1" dirty="0">
              <a:solidFill>
                <a:srgbClr val="293D58"/>
              </a:solidFill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378267"/>
            <a:ext cx="228594" cy="17716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1743075"/>
            <a:ext cx="4857628" cy="23812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7228" y="4267199"/>
            <a:ext cx="1523961" cy="1200150"/>
          </a:xfrm>
          <a:prstGeom prst="roundRect">
            <a:avLst>
              <a:gd name="adj" fmla="val 7936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0099" y="4410074"/>
            <a:ext cx="1238219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4A6FA5"/>
                </a:solidFill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99" y="4886325"/>
            <a:ext cx="1238219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Reduced Backtracking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4061" y="4267199"/>
            <a:ext cx="1523961" cy="1200150"/>
          </a:xfrm>
          <a:prstGeom prst="roundRect">
            <a:avLst>
              <a:gd name="adj" fmla="val 7936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66933" y="4410074"/>
            <a:ext cx="1238219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4A6FA5"/>
                </a:solidFill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6933" y="4886325"/>
            <a:ext cx="123821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Fewer Conflicts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0895" y="4267199"/>
            <a:ext cx="1523961" cy="1200150"/>
          </a:xfrm>
          <a:prstGeom prst="roundRect">
            <a:avLst>
              <a:gd name="adj" fmla="val 7936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33766" y="4410074"/>
            <a:ext cx="1238219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4A6FA5"/>
                </a:solidFill>
              </a:rP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3766" y="4886325"/>
            <a:ext cx="123821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Time 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1288339"/>
            <a:ext cx="2729914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00" b="1" dirty="0">
                <a:solidFill>
                  <a:srgbClr val="293D58"/>
                </a:solidFill>
              </a:rPr>
              <a:t> </a:t>
            </a:r>
            <a:r>
              <a:rPr sz="1600" dirty="0"/>
              <a:t> </a:t>
            </a:r>
            <a:r>
              <a:rPr lang="en-US" sz="1600" dirty="0" smtClean="0"/>
              <a:t> </a:t>
            </a:r>
            <a:r>
              <a:rPr sz="1600" dirty="0" smtClean="0"/>
              <a:t> </a:t>
            </a:r>
            <a:r>
              <a:rPr sz="1600" b="1" dirty="0">
                <a:solidFill>
                  <a:srgbClr val="293D58"/>
                </a:solidFill>
              </a:rPr>
              <a:t>Algorithm Comparison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6838" y="1358265"/>
            <a:ext cx="228594" cy="2171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76838" y="2620137"/>
            <a:ext cx="233356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293D58"/>
                </a:solidFill>
              </a:rPr>
              <a:t>Backtracking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6838" y="2934462"/>
            <a:ext cx="2333566" cy="131445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6838" y="4372737"/>
            <a:ext cx="43813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Speed: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10224" y="4420361"/>
            <a:ext cx="1800179" cy="95249"/>
          </a:xfrm>
          <a:prstGeom prst="roundRect">
            <a:avLst>
              <a:gd name="adj" fmla="val 100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010224" y="4420361"/>
            <a:ext cx="1800179" cy="95249"/>
          </a:xfrm>
          <a:prstGeom prst="roundRect">
            <a:avLst>
              <a:gd name="adj" fmla="val 10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0899" y="2620137"/>
            <a:ext cx="233356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293D58"/>
                </a:solidFill>
              </a:rPr>
              <a:t>FC + MRV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0899" y="2934462"/>
            <a:ext cx="2333566" cy="175259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00899" y="4810887"/>
            <a:ext cx="43813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Speed: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34286" y="4858512"/>
            <a:ext cx="1800179" cy="95249"/>
          </a:xfrm>
          <a:prstGeom prst="roundRect">
            <a:avLst>
              <a:gd name="adj" fmla="val 100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534286" y="4858512"/>
            <a:ext cx="266693" cy="95249"/>
          </a:xfrm>
          <a:prstGeom prst="roundRect">
            <a:avLst>
              <a:gd name="adj" fmla="val 10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1339" y="1018982"/>
            <a:ext cx="5238619" cy="2028825"/>
          </a:xfrm>
          <a:prstGeom prst="roundRect">
            <a:avLst>
              <a:gd name="adj" fmla="val 4694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 Same Side Corner Rectangle 2"/>
          <p:cNvSpPr/>
          <p:nvPr/>
        </p:nvSpPr>
        <p:spPr>
          <a:xfrm rot="16200000">
            <a:off x="-290523" y="1950844"/>
            <a:ext cx="20288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1439386"/>
            <a:ext cx="4983846" cy="11880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dirty="0" smtClean="0"/>
              <a:t> </a:t>
            </a:r>
            <a:r>
              <a:rPr sz="1400" b="1" dirty="0">
                <a:solidFill>
                  <a:srgbClr val="293D58"/>
                </a:solidFill>
              </a:rPr>
              <a:t>Key Observation </a:t>
            </a:r>
            <a:r>
              <a:rPr sz="1400" b="0" dirty="0">
                <a:solidFill>
                  <a:srgbClr val="2C3E50"/>
                </a:solidFill>
              </a:rPr>
              <a:t> The </a:t>
            </a:r>
            <a:r>
              <a:rPr sz="1400" b="1" dirty="0">
                <a:solidFill>
                  <a:srgbClr val="4A6FA5"/>
                </a:solidFill>
              </a:rPr>
              <a:t>combined algorithm</a:t>
            </a:r>
            <a:r>
              <a:rPr sz="1400" b="0" dirty="0">
                <a:solidFill>
                  <a:srgbClr val="2C3E50"/>
                </a:solidFill>
              </a:rPr>
              <a:t> significantly reduces computation time and increases efficiency by:  Selecting optimal variables first (MRV) Pruning search space early (Forward Checking) Minimizing dead-end exploration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339" y="3238306"/>
            <a:ext cx="5238619" cy="1838324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1339" y="3671181"/>
            <a:ext cx="5238619" cy="9725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 smtClean="0">
                <a:solidFill>
                  <a:srgbClr val="293D58"/>
                </a:solidFill>
              </a:rPr>
              <a:t>Conclusion </a:t>
            </a:r>
            <a:r>
              <a:rPr sz="1400" b="0" dirty="0" smtClean="0">
                <a:solidFill>
                  <a:srgbClr val="2C3E50"/>
                </a:solidFill>
              </a:rPr>
              <a:t> </a:t>
            </a:r>
            <a:r>
              <a:rPr sz="1400" b="1" dirty="0">
                <a:solidFill>
                  <a:srgbClr val="4A6FA5"/>
                </a:solidFill>
              </a:rPr>
              <a:t>Forward Checking + MRV</a:t>
            </a:r>
            <a:r>
              <a:rPr sz="1400" b="0" dirty="0">
                <a:solidFill>
                  <a:srgbClr val="2C3E50"/>
                </a:solidFill>
              </a:rPr>
              <a:t> outperforms naive backtracking for CSP-based map coloring, especially for:  Large maps with many regions Problems with limited color domains Complex adjacency constraints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51444" y="1279616"/>
            <a:ext cx="5238619" cy="2695575"/>
          </a:xfrm>
          <a:prstGeom prst="roundRect">
            <a:avLst>
              <a:gd name="adj" fmla="val 35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22275" y="1423750"/>
            <a:ext cx="3515963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1" dirty="0">
                <a:solidFill>
                  <a:srgbClr val="293D58"/>
                </a:solidFill>
              </a:rPr>
              <a:t> </a:t>
            </a:r>
            <a:r>
              <a:rPr sz="1600" dirty="0"/>
              <a:t> </a:t>
            </a:r>
            <a:r>
              <a:rPr lang="en-US" sz="1600" dirty="0" smtClean="0"/>
              <a:t>  </a:t>
            </a:r>
            <a:r>
              <a:rPr sz="1600" dirty="0" smtClean="0"/>
              <a:t> </a:t>
            </a:r>
            <a:r>
              <a:rPr sz="1600" b="1" dirty="0">
                <a:solidFill>
                  <a:srgbClr val="293D58"/>
                </a:solidFill>
              </a:rPr>
              <a:t>Time Complexity Comparison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01252" y="1520821"/>
            <a:ext cx="228594" cy="16287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1940" y="1879691"/>
            <a:ext cx="4857628" cy="190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21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0437" y="255898"/>
            <a:ext cx="1717586" cy="44935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200" b="1" dirty="0">
                <a:solidFill>
                  <a:srgbClr val="293D58"/>
                </a:solidFill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675148"/>
            <a:ext cx="5238619" cy="2378764"/>
          </a:xfrm>
          <a:prstGeom prst="roundRect">
            <a:avLst>
              <a:gd name="adj" fmla="val 3225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451213" y="1793094"/>
            <a:ext cx="2378764" cy="14287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2476" y="895095"/>
            <a:ext cx="1764842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293D58"/>
                </a:solidFill>
              </a:rPr>
              <a:t> </a:t>
            </a:r>
            <a:r>
              <a:rPr sz="1104" dirty="0"/>
              <a:t>  </a:t>
            </a:r>
            <a:r>
              <a:rPr lang="en-US" sz="1104" dirty="0" smtClean="0"/>
              <a:t>  </a:t>
            </a:r>
            <a:r>
              <a:rPr sz="1435" b="1" dirty="0" smtClean="0">
                <a:solidFill>
                  <a:srgbClr val="293D58"/>
                </a:solidFill>
              </a:rPr>
              <a:t>Key </a:t>
            </a:r>
            <a:r>
              <a:rPr sz="1435" b="1" dirty="0">
                <a:solidFill>
                  <a:srgbClr val="293D58"/>
                </a:solidFill>
              </a:rPr>
              <a:t>Takeaways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2476" y="943090"/>
            <a:ext cx="266693" cy="22611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1365581"/>
            <a:ext cx="209544" cy="181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6318" y="1351423"/>
            <a:ext cx="43909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Map Coloring Problem is an </a:t>
            </a:r>
            <a:r>
              <a:rPr sz="1196" b="1">
                <a:solidFill>
                  <a:srgbClr val="4A6FA5"/>
                </a:solidFill>
              </a:rPr>
              <a:t>excellent example of a CSP</a:t>
            </a:r>
            <a:r>
              <a:rPr sz="1196" b="0">
                <a:solidFill>
                  <a:srgbClr val="2C3E50"/>
                </a:solidFill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1775156"/>
            <a:ext cx="209544" cy="181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6318" y="1760998"/>
            <a:ext cx="4390915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Combining </a:t>
            </a:r>
            <a:r>
              <a:rPr sz="1196" b="1">
                <a:solidFill>
                  <a:srgbClr val="4A6FA5"/>
                </a:solidFill>
              </a:rPr>
              <a:t>Forward Checking</a:t>
            </a:r>
            <a:r>
              <a:rPr sz="1196" b="0">
                <a:solidFill>
                  <a:srgbClr val="2C3E50"/>
                </a:solidFill>
              </a:rPr>
              <a:t> and </a:t>
            </a:r>
            <a:r>
              <a:rPr sz="1196" b="1">
                <a:solidFill>
                  <a:srgbClr val="4A6FA5"/>
                </a:solidFill>
              </a:rPr>
              <a:t>MRV Heuristic</a:t>
            </a:r>
            <a:r>
              <a:rPr sz="1196" b="0">
                <a:solidFill>
                  <a:srgbClr val="2C3E50"/>
                </a:solidFill>
              </a:rPr>
              <a:t> makes the solution more efficient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2451431"/>
            <a:ext cx="209544" cy="181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6318" y="2437272"/>
            <a:ext cx="430519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Significant reduction in search space and backtracking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53" y="3164684"/>
            <a:ext cx="2606419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  </a:t>
            </a:r>
            <a:r>
              <a:rPr sz="1400" b="1" dirty="0" smtClean="0">
                <a:solidFill>
                  <a:srgbClr val="293D58"/>
                </a:solidFill>
              </a:rPr>
              <a:t>Real-World </a:t>
            </a:r>
            <a:r>
              <a:rPr sz="1400" b="1" dirty="0">
                <a:solidFill>
                  <a:srgbClr val="293D58"/>
                </a:solidFill>
              </a:rPr>
              <a:t>Applications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3" y="3227377"/>
            <a:ext cx="266693" cy="19132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04853" y="3618316"/>
            <a:ext cx="2285942" cy="1590675"/>
          </a:xfrm>
          <a:prstGeom prst="roundRect">
            <a:avLst>
              <a:gd name="adj" fmla="val 5988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6379" y="3833943"/>
            <a:ext cx="342891" cy="2926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90636" y="4266017"/>
            <a:ext cx="914377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93D58"/>
                </a:solidFill>
              </a:rPr>
              <a:t>Scheduling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348" y="4580342"/>
            <a:ext cx="1904952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Exam timetables, resource allocation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1291" y="3618316"/>
            <a:ext cx="2285942" cy="1590675"/>
          </a:xfrm>
          <a:prstGeom prst="roundRect">
            <a:avLst>
              <a:gd name="adj" fmla="val 5988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2817" y="3847245"/>
            <a:ext cx="342891" cy="26604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81391" y="4266017"/>
            <a:ext cx="27621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93D58"/>
                </a:solidFill>
              </a:rPr>
              <a:t>GIS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1786" y="4580342"/>
            <a:ext cx="1904952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Geographic mapping systems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853" y="5399492"/>
            <a:ext cx="2285942" cy="1371600"/>
          </a:xfrm>
          <a:prstGeom prst="roundRect">
            <a:avLst>
              <a:gd name="adj" fmla="val 6944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6379" y="5628420"/>
            <a:ext cx="342891" cy="2660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8735" y="6047191"/>
            <a:ext cx="82865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93D58"/>
                </a:solidFill>
              </a:rPr>
              <a:t>Compilers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1091" y="6361516"/>
            <a:ext cx="132394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Register allocation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1291" y="5399492"/>
            <a:ext cx="2285942" cy="1371600"/>
          </a:xfrm>
          <a:prstGeom prst="roundRect">
            <a:avLst>
              <a:gd name="adj" fmla="val 6944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52817" y="5623986"/>
            <a:ext cx="342891" cy="2749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171846" y="6047191"/>
            <a:ext cx="704832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93D58"/>
                </a:solidFill>
              </a:rPr>
              <a:t>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4658" y="6361516"/>
            <a:ext cx="161920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A6A7E"/>
                </a:solidFill>
              </a:rPr>
              <a:t>Frequency assignment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78075" y="345500"/>
            <a:ext cx="5238619" cy="2463248"/>
          </a:xfrm>
          <a:prstGeom prst="roundRect">
            <a:avLst>
              <a:gd name="adj" fmla="val 29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24461" y="635092"/>
            <a:ext cx="4762380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293D58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293D58"/>
                </a:solidFill>
              </a:rPr>
              <a:t>Future Work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86342" y="711095"/>
            <a:ext cx="409565" cy="203934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33965" y="1116168"/>
            <a:ext cx="266693" cy="19712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43530" y="976606"/>
            <a:ext cx="4067073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</a:t>
            </a:r>
            <a:r>
              <a:rPr sz="1196" b="1">
                <a:solidFill>
                  <a:srgbClr val="4A6FA5"/>
                </a:solidFill>
              </a:rPr>
              <a:t>Hybrid heuristics</a:t>
            </a:r>
            <a:r>
              <a:rPr sz="1196" b="0">
                <a:solidFill>
                  <a:srgbClr val="2C3E50"/>
                </a:solidFill>
              </a:rPr>
              <a:t> combining multiple CSP solving strategies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33965" y="1910471"/>
            <a:ext cx="266693" cy="20872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43530" y="1891006"/>
            <a:ext cx="397182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</a:t>
            </a:r>
            <a:r>
              <a:rPr sz="1196" b="1">
                <a:solidFill>
                  <a:srgbClr val="4A6FA5"/>
                </a:solidFill>
              </a:rPr>
              <a:t>Machine learning</a:t>
            </a:r>
            <a:r>
              <a:rPr sz="1196" b="0">
                <a:solidFill>
                  <a:srgbClr val="2C3E50"/>
                </a:solidFill>
              </a:rPr>
              <a:t> for dynamic constraint handling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33965" y="2615942"/>
            <a:ext cx="266693" cy="18842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43530" y="2595857"/>
            <a:ext cx="307649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Parallel processing for large-scale CSPs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24590" y="3551971"/>
            <a:ext cx="1809704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293D58"/>
                </a:solidFill>
              </a:rPr>
              <a:t>The Power of CSPs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95876" y="4235261"/>
            <a:ext cx="4762380" cy="2190749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00699" y="7696199"/>
            <a:ext cx="3809904" cy="11430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A6A7E"/>
                </a:solidFill>
              </a:rPr>
              <a:t>"Constraint Satisfaction Problems provide a powerful framework for solving complex real-world problems through systematic constraint handling."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37776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 dirty="0">
                <a:solidFill>
                  <a:srgbClr val="293D58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52" y="717028"/>
            <a:ext cx="1841594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  </a:t>
            </a:r>
            <a:r>
              <a:rPr sz="1400" b="1" dirty="0" smtClean="0">
                <a:solidFill>
                  <a:srgbClr val="293D58"/>
                </a:solidFill>
              </a:rPr>
              <a:t>Key </a:t>
            </a:r>
            <a:r>
              <a:rPr sz="1400" b="1" dirty="0">
                <a:solidFill>
                  <a:srgbClr val="293D58"/>
                </a:solidFill>
              </a:rPr>
              <a:t>References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775374"/>
            <a:ext cx="266693" cy="2000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04852" y="1218286"/>
            <a:ext cx="4762380" cy="819149"/>
          </a:xfrm>
          <a:prstGeom prst="roundRect">
            <a:avLst>
              <a:gd name="adj" fmla="val 11627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1386879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9189" y="1370686"/>
            <a:ext cx="18573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93D58"/>
                </a:solidFill>
              </a:rPr>
              <a:t>Russell, S., &amp; Norvig, 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617" y="1370686"/>
            <a:ext cx="54291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A6A7E"/>
                </a:solidFill>
              </a:rPr>
              <a:t>(2022).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9189" y="1370686"/>
            <a:ext cx="3133646" cy="50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A6FA5"/>
                </a:solidFill>
              </a:rPr>
              <a:t>Artificial Intelligence: A Modern Approach.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852" y="2180312"/>
            <a:ext cx="4762380" cy="819149"/>
          </a:xfrm>
          <a:prstGeom prst="roundRect">
            <a:avLst>
              <a:gd name="adj" fmla="val 11627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723" y="2348904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9189" y="2332712"/>
            <a:ext cx="146681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93D58"/>
                </a:solidFill>
              </a:rPr>
              <a:t>Cornell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4101" y="2332712"/>
            <a:ext cx="54291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A6A7E"/>
                </a:solidFill>
              </a:rPr>
              <a:t>(2011).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9189" y="2332712"/>
            <a:ext cx="3886102" cy="50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A6FA5"/>
                </a:solidFill>
              </a:rPr>
              <a:t>Constraint Satisfaction Problems (CSP).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852" y="3142336"/>
            <a:ext cx="4762380" cy="819149"/>
          </a:xfrm>
          <a:prstGeom prst="roundRect">
            <a:avLst>
              <a:gd name="adj" fmla="val 11627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723" y="3302356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19189" y="3294737"/>
            <a:ext cx="60958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93D58"/>
                </a:solidFill>
              </a:rPr>
              <a:t>Baig, 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873" y="3294737"/>
            <a:ext cx="54291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A6A7E"/>
                </a:solidFill>
              </a:rPr>
              <a:t>(2023).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9189" y="3294737"/>
            <a:ext cx="3714657" cy="50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A6FA5"/>
                </a:solidFill>
              </a:rPr>
              <a:t>Solving Map Coloring Problems Using CSPs.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22" y="4184127"/>
            <a:ext cx="2376869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sz="1400" b="1" dirty="0">
                <a:solidFill>
                  <a:srgbClr val="293D58"/>
                </a:solidFill>
              </a:rPr>
              <a:t>Documentation &amp; Tools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3299" y="4256191"/>
            <a:ext cx="266693" cy="14494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04852" y="4643770"/>
            <a:ext cx="3514637" cy="457200"/>
          </a:xfrm>
          <a:prstGeom prst="roundRect">
            <a:avLst>
              <a:gd name="adj" fmla="val 20833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13029" y="4767594"/>
            <a:ext cx="166683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293D58"/>
                </a:solidFill>
              </a:rPr>
              <a:t>Python Documentation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852" y="5253369"/>
            <a:ext cx="1943051" cy="457200"/>
          </a:xfrm>
          <a:prstGeom prst="roundRect">
            <a:avLst>
              <a:gd name="adj" fmla="val 20833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5347" y="5384814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19189" y="5367669"/>
            <a:ext cx="123821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93D58"/>
                </a:solidFill>
              </a:rPr>
              <a:t>NetworkX Library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90775" y="5253369"/>
            <a:ext cx="1438239" cy="457200"/>
          </a:xfrm>
          <a:prstGeom prst="roundRect">
            <a:avLst>
              <a:gd name="adj" fmla="val 20833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81270" y="5410532"/>
            <a:ext cx="228594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505112" y="5367669"/>
            <a:ext cx="73340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93D58"/>
                </a:solidFill>
              </a:rPr>
              <a:t>Matplotlib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852" y="5843920"/>
            <a:ext cx="1838279" cy="457200"/>
          </a:xfrm>
          <a:prstGeom prst="roundRect">
            <a:avLst>
              <a:gd name="adj" fmla="val 20833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5347" y="5989652"/>
            <a:ext cx="228594" cy="16573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19189" y="5967744"/>
            <a:ext cx="113344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93D58"/>
                </a:solidFill>
              </a:rPr>
              <a:t>Kaggle Datasets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4461" y="717028"/>
            <a:ext cx="118006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 </a:t>
            </a:r>
            <a:r>
              <a:rPr sz="1400" b="1" dirty="0" smtClean="0">
                <a:solidFill>
                  <a:srgbClr val="293D58"/>
                </a:solidFill>
              </a:rPr>
              <a:t>Datasets </a:t>
            </a:r>
            <a:endParaRPr sz="1400" b="1" dirty="0">
              <a:solidFill>
                <a:srgbClr val="293D58"/>
              </a:solidFill>
            </a:endParaRP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24461" y="771026"/>
            <a:ext cx="266693" cy="20872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524461" y="1218286"/>
            <a:ext cx="4762380" cy="819149"/>
          </a:xfrm>
          <a:prstGeom prst="roundRect">
            <a:avLst>
              <a:gd name="adj" fmla="val 11627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67333" y="1378307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38799" y="1457045"/>
            <a:ext cx="4105172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 </a:t>
            </a:r>
            <a:r>
              <a:rPr lang="en-US" sz="1196" b="0" dirty="0" smtClean="0">
                <a:solidFill>
                  <a:srgbClr val="2C3E50"/>
                </a:solidFill>
              </a:rPr>
              <a:t>USA Adjacency</a:t>
            </a:r>
            <a:r>
              <a:rPr sz="1196" b="0" dirty="0" smtClean="0">
                <a:solidFill>
                  <a:srgbClr val="4A6FA5"/>
                </a:solidFill>
              </a:rPr>
              <a:t> </a:t>
            </a:r>
            <a:r>
              <a:rPr sz="1196" b="0" dirty="0">
                <a:solidFill>
                  <a:srgbClr val="4A6FA5"/>
                </a:solidFill>
              </a:rPr>
              <a:t>Dataset</a:t>
            </a:r>
            <a:r>
              <a:rPr sz="1196" b="0" dirty="0">
                <a:solidFill>
                  <a:srgbClr val="2C3E50"/>
                </a:solidFill>
              </a:rPr>
              <a:t> - </a:t>
            </a:r>
            <a:r>
              <a:rPr sz="1196" b="0" dirty="0" smtClean="0">
                <a:solidFill>
                  <a:srgbClr val="2C3E50"/>
                </a:solidFill>
              </a:rPr>
              <a:t> </a:t>
            </a:r>
            <a:r>
              <a:rPr sz="1196" b="0" dirty="0">
                <a:solidFill>
                  <a:srgbClr val="2C3E50"/>
                </a:solidFill>
              </a:rPr>
              <a:t>with adjacency constraints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24461" y="2180312"/>
            <a:ext cx="4762380" cy="819149"/>
          </a:xfrm>
          <a:prstGeom prst="roundRect">
            <a:avLst>
              <a:gd name="adj" fmla="val 11627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67333" y="2340332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038799" y="2315484"/>
            <a:ext cx="4105172" cy="54880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 </a:t>
            </a:r>
            <a:r>
              <a:rPr sz="1196" b="0" dirty="0">
                <a:solidFill>
                  <a:srgbClr val="4A6FA5"/>
                </a:solidFill>
              </a:rPr>
              <a:t>USA States Map Dataset</a:t>
            </a:r>
            <a:r>
              <a:rPr sz="1196" b="0" dirty="0">
                <a:solidFill>
                  <a:srgbClr val="2C3E50"/>
                </a:solidFill>
              </a:rPr>
              <a:t> </a:t>
            </a:r>
            <a:r>
              <a:rPr lang="en-US" sz="1196" b="0" dirty="0" smtClean="0">
                <a:solidFill>
                  <a:srgbClr val="2C3E50"/>
                </a:solidFill>
              </a:rPr>
              <a:t>–</a:t>
            </a:r>
            <a:r>
              <a:rPr sz="1196" b="0" dirty="0" smtClean="0">
                <a:solidFill>
                  <a:srgbClr val="2C3E50"/>
                </a:solidFill>
              </a:rPr>
              <a:t> </a:t>
            </a:r>
            <a:r>
              <a:rPr lang="en-US" sz="1196" dirty="0" smtClean="0">
                <a:solidFill>
                  <a:srgbClr val="2C3E50"/>
                </a:solidFill>
              </a:rPr>
              <a:t>States </a:t>
            </a:r>
            <a:r>
              <a:rPr sz="1196" b="0" dirty="0" smtClean="0">
                <a:solidFill>
                  <a:srgbClr val="2C3E50"/>
                </a:solidFill>
              </a:rPr>
              <a:t>with </a:t>
            </a:r>
            <a:r>
              <a:rPr sz="1196" b="0" dirty="0">
                <a:solidFill>
                  <a:srgbClr val="2C3E50"/>
                </a:solidFill>
              </a:rPr>
              <a:t>adjacency constraints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24461" y="3142336"/>
            <a:ext cx="4762380" cy="819149"/>
          </a:xfrm>
          <a:prstGeom prst="roundRect">
            <a:avLst>
              <a:gd name="adj" fmla="val 11627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67333" y="3302356"/>
            <a:ext cx="228594" cy="1943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038799" y="3285211"/>
            <a:ext cx="410517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 </a:t>
            </a:r>
            <a:r>
              <a:rPr sz="1196" b="0" dirty="0" err="1">
                <a:solidFill>
                  <a:srgbClr val="4A6FA5"/>
                </a:solidFill>
              </a:rPr>
              <a:t>Gigali</a:t>
            </a:r>
            <a:r>
              <a:rPr sz="1196" b="0" dirty="0">
                <a:solidFill>
                  <a:srgbClr val="4A6FA5"/>
                </a:solidFill>
              </a:rPr>
              <a:t> Map Datasets</a:t>
            </a:r>
            <a:r>
              <a:rPr sz="1196" b="0" dirty="0">
                <a:solidFill>
                  <a:srgbClr val="2C3E50"/>
                </a:solidFill>
              </a:rPr>
              <a:t> - Various geographic regions for coloring problems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72085" y="4241444"/>
            <a:ext cx="1899815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00" b="1" dirty="0">
                <a:solidFill>
                  <a:srgbClr val="293D58"/>
                </a:solidFill>
              </a:rPr>
              <a:t> </a:t>
            </a:r>
            <a:r>
              <a:rPr sz="1400" dirty="0"/>
              <a:t>  </a:t>
            </a:r>
            <a:r>
              <a:rPr lang="en-US" sz="1400" dirty="0" smtClean="0"/>
              <a:t>  </a:t>
            </a:r>
            <a:r>
              <a:rPr sz="1400" b="1" dirty="0" smtClean="0">
                <a:solidFill>
                  <a:srgbClr val="293D58"/>
                </a:solidFill>
              </a:rPr>
              <a:t>Research </a:t>
            </a:r>
            <a:r>
              <a:rPr sz="1400" b="1" dirty="0">
                <a:solidFill>
                  <a:srgbClr val="293D58"/>
                </a:solidFill>
              </a:rPr>
              <a:t>Papers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72085" y="4307660"/>
            <a:ext cx="296547" cy="232086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6451443" y="4639289"/>
            <a:ext cx="4762380" cy="819149"/>
          </a:xfrm>
          <a:prstGeom prst="roundRect">
            <a:avLst>
              <a:gd name="adj" fmla="val 11627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315" y="4807881"/>
            <a:ext cx="228594" cy="17716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965781" y="4791689"/>
            <a:ext cx="3467013" cy="50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A6FA5"/>
                </a:solidFill>
              </a:rPr>
              <a:t>Forward Checking in Constraint Satisfaction Problems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51443" y="5601313"/>
            <a:ext cx="4762380" cy="552450"/>
          </a:xfrm>
          <a:prstGeom prst="roundRect">
            <a:avLst>
              <a:gd name="adj" fmla="val 17241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315" y="5769906"/>
            <a:ext cx="228594" cy="17716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65781" y="5753714"/>
            <a:ext cx="363845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A6FA5"/>
                </a:solidFill>
              </a:rPr>
              <a:t>Minimum Remaining Values Heuristic for CSPs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6595" y="2834411"/>
            <a:ext cx="9404723" cy="1400530"/>
          </a:xfrm>
        </p:spPr>
        <p:txBody>
          <a:bodyPr/>
          <a:lstStyle/>
          <a:p>
            <a:pPr algn="ctr"/>
            <a:r>
              <a:rPr lang="en-US" sz="5000" b="1" u="sng" dirty="0" smtClean="0"/>
              <a:t>Thank You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36938380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93</TotalTime>
  <Words>830</Words>
  <Application>Microsoft Office PowerPoint</Application>
  <PresentationFormat>Widescreen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Robo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PMYLS</cp:lastModifiedBy>
  <cp:revision>31</cp:revision>
  <dcterms:created xsi:type="dcterms:W3CDTF">2013-01-27T09:14:16Z</dcterms:created>
  <dcterms:modified xsi:type="dcterms:W3CDTF">2025-11-13T11:00:01Z</dcterms:modified>
  <cp:category/>
</cp:coreProperties>
</file>